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9D8E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9D8E4"/>
                </a:solidFill>
                <a:latin typeface="Arial"/>
              </a:rPr>
              <a:t>Risk Score Distribution (150 poles)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Poles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30-40</c:v>
                </c:pt>
                <c:pt idx="1">
                  <c:v>40-50</c:v>
                </c:pt>
                <c:pt idx="2">
                  <c:v>50-60</c:v>
                </c:pt>
                <c:pt idx="3">
                  <c:v>60-70</c:v>
                </c:pt>
                <c:pt idx="4">
                  <c:v>70-80</c:v>
                </c:pt>
                <c:pt idx="5">
                  <c:v>80-90</c:v>
                </c:pt>
                <c:pt idx="6">
                  <c:v>90-100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13</c:v>
                </c:pt>
                <c:pt idx="2">
                  <c:v>19</c:v>
                </c:pt>
                <c:pt idx="3">
                  <c:v>45</c:v>
                </c:pt>
                <c:pt idx="4">
                  <c:v>47</c:v>
                </c:pt>
                <c:pt idx="5">
                  <c:v>18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D0-4DC3-AB70-AED7736D70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92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9D8E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9D8E4"/>
                </a:solidFill>
                <a:latin typeface="Arial"/>
              </a:rPr>
              <a:t>Avg Risk by District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Risk</c:v>
                </c:pt>
              </c:strCache>
            </c:strRef>
          </c:tx>
          <c:spPr>
            <a:solidFill>
              <a:srgbClr val="EF9F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Wyandotte S.</c:v>
                </c:pt>
                <c:pt idx="1">
                  <c:v>Dearborn</c:v>
                </c:pt>
                <c:pt idx="2">
                  <c:v>Downriver</c:v>
                </c:pt>
                <c:pt idx="3">
                  <c:v>Wyandotte</c:v>
                </c:pt>
                <c:pt idx="4">
                  <c:v>Metro Det.</c:v>
                </c:pt>
                <c:pt idx="5">
                  <c:v>Inkster</c:v>
                </c:pt>
                <c:pt idx="6">
                  <c:v>Lincoln Pk</c:v>
                </c:pt>
                <c:pt idx="7">
                  <c:v>Allen Pk</c:v>
                </c:pt>
                <c:pt idx="8">
                  <c:v>Taylor</c:v>
                </c:pt>
                <c:pt idx="9">
                  <c:v>Melvindale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</c:v>
                </c:pt>
                <c:pt idx="1">
                  <c:v>76</c:v>
                </c:pt>
                <c:pt idx="2">
                  <c:v>75</c:v>
                </c:pt>
                <c:pt idx="3">
                  <c:v>74</c:v>
                </c:pt>
                <c:pt idx="4">
                  <c:v>68</c:v>
                </c:pt>
                <c:pt idx="5">
                  <c:v>65</c:v>
                </c:pt>
                <c:pt idx="6">
                  <c:v>65</c:v>
                </c:pt>
                <c:pt idx="7">
                  <c:v>63</c:v>
                </c:pt>
                <c:pt idx="8">
                  <c:v>46</c:v>
                </c:pt>
                <c:pt idx="9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70-460D-A4FB-D30CD35084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92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06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0161-1254-C428-7B10-49843148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1E255-B443-3F49-BF53-29D8367D4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488FF-F8C3-659B-75C4-2B1836768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7CE35-D60B-6030-DE26-AF4145B0B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2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E31A-03FD-16A9-7B9D-F3E5D92D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E3771-F115-66C8-A918-930320BA8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1434B-B03B-32C5-A778-6FDB0E51F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8E88B-98FC-2B6B-3650-D6D96B2A8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02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6531F-36EC-46A5-F407-B485D6B0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BA0CC7-553D-7551-50D3-E695AC333908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EFA98F-2B26-EB79-9371-47573D9C4639}"/>
              </a:ext>
            </a:extLst>
          </p:cNvPr>
          <p:cNvSpPr/>
          <p:nvPr/>
        </p:nvSpPr>
        <p:spPr>
          <a:xfrm>
            <a:off x="36576" y="1364645"/>
            <a:ext cx="9070848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8B4893-BBDF-A721-F0D4-F0257CDD7E3D}"/>
              </a:ext>
            </a:extLst>
          </p:cNvPr>
          <p:cNvSpPr/>
          <p:nvPr/>
        </p:nvSpPr>
        <p:spPr>
          <a:xfrm>
            <a:off x="2145323" y="1513683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A2F0C8-9C54-AB76-7D62-EAD558ADB98F}"/>
              </a:ext>
            </a:extLst>
          </p:cNvPr>
          <p:cNvSpPr/>
          <p:nvPr/>
        </p:nvSpPr>
        <p:spPr>
          <a:xfrm>
            <a:off x="731520" y="156186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400" dirty="0">
                <a:solidFill>
                  <a:srgbClr val="FFFFFF"/>
                </a:solidFill>
              </a:rPr>
              <a:t>GRIDWATCH AI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42D6FB-F175-0936-8B93-2A6F3EE847A4}"/>
              </a:ext>
            </a:extLst>
          </p:cNvPr>
          <p:cNvSpPr/>
          <p:nvPr/>
        </p:nvSpPr>
        <p:spPr>
          <a:xfrm>
            <a:off x="731520" y="2137937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5DCAA5"/>
                </a:solidFill>
              </a:rPr>
              <a:t>From reactive maintenance to predictive resilience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AF5F26D-7FAA-F85B-2539-0F292E8382B6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</a:rPr>
              <a:t>Built for DTE Energy  ·  Hack Michigan ·  2026</a:t>
            </a:r>
            <a:endParaRPr lang="en-US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055134-905E-D4AA-5057-0169CB32855A}"/>
              </a:ext>
            </a:extLst>
          </p:cNvPr>
          <p:cNvSpPr/>
          <p:nvPr/>
        </p:nvSpPr>
        <p:spPr>
          <a:xfrm>
            <a:off x="1460178" y="116134"/>
            <a:ext cx="658940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HACK MICHIGAN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4F01BA71-EF69-469C-4191-84B295E45B30}"/>
              </a:ext>
            </a:extLst>
          </p:cNvPr>
          <p:cNvSpPr/>
          <p:nvPr/>
        </p:nvSpPr>
        <p:spPr>
          <a:xfrm>
            <a:off x="9062407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73F392-62BF-14D7-3755-F1D38FCA357A}"/>
              </a:ext>
            </a:extLst>
          </p:cNvPr>
          <p:cNvSpPr txBox="1"/>
          <p:nvPr/>
        </p:nvSpPr>
        <p:spPr>
          <a:xfrm>
            <a:off x="2145323" y="2540545"/>
            <a:ext cx="6341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bg2"/>
                </a:solidFill>
                <a:effectLst/>
                <a:latin typeface="Inter"/>
              </a:rPr>
              <a:t> </a:t>
            </a:r>
            <a:r>
              <a:rPr lang="en-US" b="1" i="0" u="none" strike="noStrike" dirty="0">
                <a:solidFill>
                  <a:schemeClr val="bg2"/>
                </a:solidFill>
                <a:effectLst/>
                <a:latin typeface="inherit"/>
              </a:rPr>
              <a:t>DTE Energy AI Challenge</a:t>
            </a:r>
            <a:r>
              <a:rPr lang="en-US" b="1" i="0" dirty="0">
                <a:solidFill>
                  <a:schemeClr val="bg2"/>
                </a:solidFill>
                <a:effectLst/>
                <a:latin typeface="Inter"/>
              </a:rPr>
              <a:t> - Utility Pole Risk Profiling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99F14-B2A4-A87B-B278-A76EA833260D}"/>
              </a:ext>
            </a:extLst>
          </p:cNvPr>
          <p:cNvSpPr txBox="1"/>
          <p:nvPr/>
        </p:nvSpPr>
        <p:spPr>
          <a:xfrm>
            <a:off x="404446" y="3445431"/>
            <a:ext cx="4579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5DCAA5"/>
                </a:solidFill>
              </a:rPr>
              <a:t>Team R2D2:</a:t>
            </a:r>
            <a:br>
              <a:rPr lang="en-US" sz="1800" i="1" dirty="0">
                <a:solidFill>
                  <a:srgbClr val="5DCAA5"/>
                </a:solidFill>
              </a:rPr>
            </a:br>
            <a:r>
              <a:rPr lang="en-US" sz="1800" i="1" dirty="0">
                <a:solidFill>
                  <a:srgbClr val="5DCAA5"/>
                </a:solidFill>
              </a:rPr>
              <a:t>1. Manognya Lokesh Reddy</a:t>
            </a:r>
          </a:p>
          <a:p>
            <a:pPr marL="0" indent="0">
              <a:buNone/>
            </a:pPr>
            <a:r>
              <a:rPr lang="en-US" i="1" dirty="0">
                <a:solidFill>
                  <a:srgbClr val="5DCAA5"/>
                </a:solidFill>
              </a:rPr>
              <a:t>2. Vanshika Sangtani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5DCAA5"/>
                </a:solidFill>
              </a:rPr>
              <a:t>3. Kavan Kumareshan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4049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942536"/>
            <a:ext cx="64008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42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988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</a:rPr>
              <a:t>GRIDWATCH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43000" y="15826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5DCAA5"/>
                </a:solidFill>
              </a:rPr>
              <a:t>Utility Pole Risk Profiling  ·  DTE Energy  ·  Metro Detroit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1994096"/>
            <a:ext cx="6858000" cy="27432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2131256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8E4"/>
                </a:solidFill>
              </a:rPr>
              <a:t>AI-powered infrastructure monitoring that predicts pole failures before they happen combining live OSM data, XGBoost ML models, real-time weather, and IBM watsonx.ai recommendations to protect 150+ poles across 12 Metro Detroit districts.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3411416"/>
            <a:ext cx="1554480" cy="80467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34571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CAA5"/>
                </a:solidFill>
              </a:rPr>
              <a:t>150 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20240" y="38320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</a:rPr>
              <a:t>Poles Monitored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3411416"/>
            <a:ext cx="1554480" cy="80467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0" y="34571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CAA5"/>
                </a:solidFill>
              </a:rPr>
              <a:t>29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49040" y="38320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</a:rPr>
              <a:t>ML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3411416"/>
            <a:ext cx="1554480" cy="80467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34571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CAA5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77840" y="38320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</a:rPr>
              <a:t>XGBoost Models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CAA5"/>
                </a:solidFill>
              </a:rPr>
              <a:t>Aging infrastructure, reactive maintenance, and escalating outage costs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Aging Infrastructure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Avg pole age 35+ years. Many wooden poles in flood-prone districts approaching end-of-life.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64008" cy="1371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Reactive Maintenance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6276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Traditional inspections are manual, infrequent, and miss hidden structural degradation.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93192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64008" cy="13716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Outage Costs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278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Each unplanned outage costs $5,000+ per pole. Storm events can affect 150 poles simultaneously.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3931920" cy="13716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64008" cy="13716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Storm Vulnerability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2278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Metro Detroit weather events create 60–99% storm failure probability on high-risk poles.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4622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CAA5"/>
                </a:solidFill>
              </a:rPr>
              <a:t>💡  GridWatch AI shifts DTE from reactive break-fix to proactive, data-driven infrastructure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</a:rPr>
              <a:t>Four-layer pipeline: Data → ML → API →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1874520" cy="2926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0515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53619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OSM Overpass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(150 live poles)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28600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235915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Open-Meteo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(real-time weather)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310896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" y="318211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FEMA NFHL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(flood zones)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93192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" y="400507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AQI + Soil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Moisture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21992" y="2560320"/>
            <a:ext cx="274320" cy="27432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67712" y="242316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70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96312" y="1051560"/>
            <a:ext cx="1874520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96312" y="10515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ML ENGINE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96312" y="146304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9464" y="153619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XGBoost 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Regressor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96312" y="228600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9464" y="235915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XGBoost Failure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Classifier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96312" y="310896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9464" y="318211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Storm Prob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Regressor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96312" y="393192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9464" y="400507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29-Feature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70832" y="2560320"/>
            <a:ext cx="274320" cy="27432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16552" y="242316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70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45152" y="1051560"/>
            <a:ext cx="1874520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5152" y="10515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FASTAPI BACKEND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45152" y="146304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18304" y="153619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20+ 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Endpoints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228600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18304" y="235915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watsonx.ai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Granite LLM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45152" y="310896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18304" y="318211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CV Inspection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Engine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45152" y="393192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18304" y="400507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PDF / 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Export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9672" y="2560320"/>
            <a:ext cx="274320" cy="27432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65392" y="242316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70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93992" y="1051560"/>
            <a:ext cx="1874520" cy="29260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93992" y="10515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93992" y="146304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67144" y="153619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Leaflet Map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+ Heatmap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93992" y="228600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67144" y="235915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10 Analytical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Tabs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93992" y="310896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67144" y="318211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Storm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Simulator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93992" y="3931920"/>
            <a:ext cx="1874520" cy="704088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67144" y="4005072"/>
            <a:ext cx="1728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Budget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8E4"/>
                </a:solidFill>
              </a:rPr>
              <a:t>Optimizer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ML RISK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</a:rPr>
              <a:t>Triple XGBoost ensemble trained on 3,000 synthetic Metro Detroit poles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301752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Score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Regressor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46304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&gt; 0.90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Outputs 0–100 risk score incorporating age, tilt, material, flood zone, AQI, soil moisture &amp; more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560320" cy="301752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56032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Classifier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783080"/>
            <a:ext cx="1463040" cy="3474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AUC &gt; 0.92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Binary pole failure prediction with class-imbalance weighting. Drives the Failure Prob % displayed per pole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560320" cy="301752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56032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Storm Prob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Regressor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146304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MAE &lt; 0.04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240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Storm-specific failure probability adjusted by live wind speed. Feeds the Storm Simulator &amp; alert banner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6070"/>
                </a:solidFill>
              </a:rPr>
              <a:t>29 INPUT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498848"/>
            <a:ext cx="1965960" cy="50292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CAA5"/>
                </a:solidFill>
              </a:rPr>
              <a:t>Structural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D8E4"/>
                </a:solidFill>
              </a:rPr>
              <a:t>Age · Tilt · Cracks · Rust · Height · Material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14600" y="4498848"/>
            <a:ext cx="1965960" cy="50292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06040" y="45262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CAA5"/>
                </a:solidFill>
              </a:rPr>
              <a:t>Environmental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4709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D8E4"/>
                </a:solidFill>
              </a:rPr>
              <a:t>Flood Zone · Soil Type · AQI · Soil Moisture · Vegetation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498848"/>
            <a:ext cx="1965960" cy="50292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45262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CAA5"/>
                </a:solidFill>
              </a:rPr>
              <a:t>Operational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709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D8E4"/>
                </a:solidFill>
              </a:rPr>
              <a:t>Yrs Since Inspection · Last Maintenance · Transformers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4498848"/>
            <a:ext cx="1965960" cy="50292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03720" y="452628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CAA5"/>
                </a:solidFill>
              </a:rPr>
              <a:t>Exposure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4709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D8E4"/>
                </a:solidFill>
              </a:rPr>
              <a:t>Wind · Storm Exposure Index · Road Proximity · Urban Density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DASHBOARD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</a:rPr>
              <a:t>10 integrated tabs covering the full maintenance decision lifecycle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64008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🗺  MAP 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Leaflet + Satellite + Heatmap. Color-coded risk markers, district clustering, satellite toggle.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64008" cy="6858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338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📋  POLE DETAIL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Full pole profile: material, tilt, cracks, AQI, failure probability, remaining life, cost estimates.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65376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865376"/>
            <a:ext cx="64008" cy="685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📷  CV INSPECTION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15798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Upload a pole photo for computer vision analysis. Outputs tilt, crack, rust, condition scores.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65376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865376"/>
            <a:ext cx="64008" cy="6858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🤖  AI REPORT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15798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IBM watsonx.ai Granite LLM generates maintenance recommendations, work orders, and 5-year schedules.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64008" cy="6858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7066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 STORM SIM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94436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Wind/gust/precip sliders. Simulates failure count, customers affected, emergency cost, districts at risk.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651760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64008" cy="6858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7066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94436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Risk score distribution histograms and average risk by district bar chart with interactive tooltips.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38144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438144"/>
            <a:ext cx="64008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4930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🎯  PRIORITY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730752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Top-20 urgent poles ranked by composite Priority Score = 0.5×Risk + 0.3×StormProb + 0.2×CostNorm.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438144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438144"/>
            <a:ext cx="64008" cy="685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930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💰  BUDGET SIM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730752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Drag budget slider, run knapsack optimizer to maximize risk reduction across repair/replace actions.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24528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64008" cy="6858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2793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🔬  CUSTOM PREDICT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517136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Enter any pole's parameters and get instant ML predictions — no deployment needed.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224528"/>
            <a:ext cx="393192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4224528"/>
            <a:ext cx="64008" cy="6858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42793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📈  HISTORY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517136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8E4"/>
                </a:solidFill>
              </a:rPr>
              <a:t>Risk score trend lines per pole over time, enabling longitudinal degradation tracking.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LIVE SYSTEM SCREENS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192024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Heatmap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490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150 poles color-coded: Critical (red) → Low (blue)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Heatmap layer shows risk density clusters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Satellite / Dark mode toggle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Selected pole shows risk score &amp; priority live in sidebar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023360" cy="192024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Storm Simulator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37490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Set wind (mph), gusts, precipitation via sliders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Instant simulation: poles failing, customers affected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60 mph / 78 gust → 150 poles failing, 12,750 customers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Emergency cost estimate: $1.63M  ·  Districts at risk listed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023360" cy="192024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23360" cy="3474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Maintenance Report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7490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watsonx.ai Granite LLM generates structured recommendations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Actions: Immediate Replacement → Routine Monitoring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Includes storm risk warning with % probability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Work Order &amp; 5-Year Schedule sub-tabs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023360" cy="192024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Budget Optimizer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74904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Drag budget slider ($0–$500K+)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Knapsack algorithm: max risk reduction per $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$70K budget → 20 poles repaired, $42K spent, 1351 pts benefit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C9D8E4"/>
                </a:solidFill>
              </a:rPr>
              <a:t>Shows remaining budget and per-pole cost vs benefit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RISK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CAA5"/>
                </a:solidFill>
              </a:rPr>
              <a:t>Fleet-level intelligence from a live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160020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1207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</a:rPr>
              <a:t>Total Poles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4632" y="13898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8E4"/>
                </a:solidFill>
              </a:rPr>
              <a:t>150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03120" y="1097280"/>
            <a:ext cx="160020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40280" y="1207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0280" y="13898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4B4A"/>
                </a:solidFill>
              </a:rPr>
              <a:t>68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58768" y="1097280"/>
            <a:ext cx="160020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95928" y="1207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</a:rPr>
              <a:t>High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95928" y="13898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</a:rPr>
              <a:t>76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14416" y="1097280"/>
            <a:ext cx="160020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51576" y="1207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</a:rPr>
              <a:t>Avg Risk/100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51576" y="13898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CAA5"/>
                </a:solidFill>
              </a:rPr>
              <a:t>67.2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70064" y="1097280"/>
            <a:ext cx="160020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07224" y="12070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</a:rPr>
              <a:t>Priority Budget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07224" y="138988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$513K</a:t>
            </a:r>
            <a:endParaRPr lang="en-US" sz="2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2103120"/>
          <a:ext cx="42976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846320" y="210312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PRIORITY QUEUE &amp; COST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A6070"/>
                </a:solidFill>
              </a:rPr>
              <a:t>TOP 10 CRITICAL POLES BY PRIORITY SCORE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87552"/>
          <a:ext cx="4937760" cy="362296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Pole 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Storm Fail%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SYN-0062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98.3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SYN-0057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95.3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SYN-0111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94.5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SYN-0114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89.5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SYN-0149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87.9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SYN-0103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90.4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SYN-0042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81.3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79%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SYN-0053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89.5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SYN-0129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87.8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SYN-0143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4B4A"/>
                          </a:solidFill>
                        </a:rPr>
                        <a:t>87.7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83%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9D8E4"/>
                          </a:solidFill>
                        </a:rPr>
                        <a:t>Immediate replacement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49808"/>
            <a:ext cx="3200400" cy="400507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0" y="868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6070"/>
                </a:solidFill>
              </a:rPr>
              <a:t>FINANCIAL IMPACT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0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Avg outage avoided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71232" y="1207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DCAA5"/>
                </a:solidFill>
              </a:rPr>
              <a:t>$5,000</a:t>
            </a:r>
            <a:endParaRPr lang="en-US" sz="1000" dirty="0"/>
          </a:p>
        </p:txBody>
      </p:sp>
      <p:sp>
        <p:nvSpPr>
          <p:cNvPr id="4" name="Shape 6"/>
          <p:cNvSpPr/>
          <p:nvPr/>
        </p:nvSpPr>
        <p:spPr>
          <a:xfrm>
            <a:off x="5715000" y="1508760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15000" y="1636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Wood pole replacement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71232" y="16367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D8E4"/>
                </a:solidFill>
              </a:rPr>
              <a:t>$6,200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0" y="1938528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15000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Steel pole replacement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71232" y="2066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D8E4"/>
                </a:solidFill>
              </a:rPr>
              <a:t>$9,500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0" y="2368296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1500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Repair cost (Wood)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71232" y="2496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9D8E4"/>
                </a:solidFill>
              </a:rPr>
              <a:t>$2,100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15000" y="2798064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Total savings shown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71232" y="2926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</a:rPr>
              <a:t>$5,300+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3227832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15000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Storm scenario cost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571232" y="33558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24B4A"/>
                </a:solidFill>
              </a:rPr>
              <a:t>$1.63M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15000" y="3657600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715000" y="3785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Budget optimizer (20 poles)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571232" y="37856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9F27"/>
                </a:solidFill>
              </a:rPr>
              <a:t>$42,000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15000" y="4087368"/>
            <a:ext cx="2880360" cy="9144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15000" y="42153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70"/>
                </a:solidFill>
              </a:rPr>
              <a:t>Benefit score (budget sim)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571232" y="42153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78ADD"/>
                </a:solidFill>
              </a:rPr>
              <a:t>1,351 pts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577840" y="4773168"/>
            <a:ext cx="3200400" cy="22860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623560" y="479145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CAA5"/>
                </a:solidFill>
              </a:rPr>
              <a:t>Priority Score = 0.5×Risk + 0.3×StormProb + 0.2×CostNorm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STRENGTHS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469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DCAA5"/>
                </a:solidFill>
              </a:rPr>
              <a:t>Strengths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C9D8E4"/>
                </a:solidFill>
              </a:rPr>
              <a:t>Triple XGBoost ensemble with 3 complementary objectives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C9D8E4"/>
                </a:solidFill>
              </a:rPr>
              <a:t>29-feature engineering including AQI, soil moisture &amp; live weather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C9D8E4"/>
                </a:solidFill>
              </a:rPr>
              <a:t>Graceful degradation: OSM → synthetic fallback, Granite → rule-based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C9D8E4"/>
                </a:solidFill>
              </a:rPr>
              <a:t>Realistic Metro Detroit districts in synthetic training data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C9D8E4"/>
                </a:solidFill>
              </a:rPr>
              <a:t>IBM watsonx.ai integration with detailed rule-based fallback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C9D8E4"/>
                </a:solidFill>
              </a:rPr>
              <a:t>Full lifecycle management: inspect → predict → recommend → track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749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9F27"/>
                </a:solidFill>
              </a:rPr>
              <a:t>🔧  FUTURE IMPROVEMENTS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109728" cy="2926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1155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E4"/>
                </a:solidFill>
              </a:rPr>
              <a:t>IoT &amp; Sensor Integration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527048"/>
            <a:ext cx="109728" cy="2926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4533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E4"/>
                </a:solidFill>
              </a:rPr>
              <a:t>EIA Grid Integration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956816"/>
            <a:ext cx="109728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E4"/>
                </a:solidFill>
              </a:rPr>
              <a:t>Compliance Reporting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86584"/>
            <a:ext cx="109728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4048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E4"/>
                </a:solidFill>
              </a:rPr>
              <a:t>Building knowledge 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816352"/>
            <a:ext cx="109728" cy="2926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E4"/>
                </a:solidFill>
              </a:rPr>
              <a:t>Outrage prediction alerts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109728" cy="2926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2644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8E4"/>
                </a:solidFill>
              </a:rPr>
              <a:t>Feature expansions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30752"/>
            <a:ext cx="8412480" cy="1143000"/>
          </a:xfrm>
          <a:prstGeom prst="rect">
            <a:avLst/>
          </a:prstGeom>
          <a:solidFill>
            <a:srgbClr val="0F2A1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DCAA5"/>
                </a:solidFill>
              </a:rPr>
              <a:t>ASSESSMENT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97764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C9D8E4"/>
                </a:solidFill>
              </a:rPr>
              <a:t>GridWatch AI is a well-architected, production-grade system. The ML pipeline is solid, data sources are real (OSM, Open-Meteo, FEMA), and the graceful fallback strategy ensures reliability. The main risks, concurrent JSON writes and the slow sequential API loop are fixable in under 2 hours and don't affect core functionality. With the quick fixes applied, this system is deployment-ready for DTE Energy pilot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2313432"/>
            <a:ext cx="9070848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023360" y="301752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16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400" dirty="0">
                <a:solidFill>
                  <a:srgbClr val="FFFFFF"/>
                </a:solidFill>
              </a:rPr>
              <a:t>GRIDWATCH 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CAA5"/>
                </a:solidFill>
              </a:rPr>
              <a:t>From reactive maintenance to predictive resilience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886200" cy="53035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8E4"/>
                </a:solidFill>
              </a:rPr>
              <a:t>🗺  Live OSM poles across Metro Detroit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886200" cy="53035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274320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8E4"/>
                </a:solidFill>
              </a:rPr>
              <a:t>🤖  IBM watsonx.ai powered recommendations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886200" cy="53035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8E4"/>
                </a:solidFill>
              </a:rPr>
              <a:t>⚡  Storm simulation &amp; early warning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474720"/>
            <a:ext cx="3886200" cy="530352"/>
          </a:xfrm>
          <a:prstGeom prst="rect">
            <a:avLst/>
          </a:prstGeom>
          <a:solidFill>
            <a:srgbClr val="0F1923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347472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8E4"/>
                </a:solidFill>
              </a:rPr>
              <a:t>💰  Budget optimizer maximizing risk reduction per dollar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</a:rPr>
              <a:t>Built for DTE Energy  ·  Hack Michigan ·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4AA07-8DFF-66D0-DDFF-E7BC81E77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B85BE4-E681-FDDD-6F60-5B4800C7A784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F09A42-BA75-D66B-B387-5CDEC9A2A82C}"/>
              </a:ext>
            </a:extLst>
          </p:cNvPr>
          <p:cNvSpPr/>
          <p:nvPr/>
        </p:nvSpPr>
        <p:spPr>
          <a:xfrm>
            <a:off x="3632981" y="301752"/>
            <a:ext cx="1878037" cy="1611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dirty="0">
                <a:solidFill>
                  <a:srgbClr val="000000"/>
                </a:solidFill>
              </a:rPr>
              <a:t>⚡</a:t>
            </a:r>
            <a:endParaRPr lang="en-US" sz="8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9BED4C-E3C4-5A45-68E4-F1442DE01169}"/>
              </a:ext>
            </a:extLst>
          </p:cNvPr>
          <p:cNvSpPr/>
          <p:nvPr/>
        </p:nvSpPr>
        <p:spPr>
          <a:xfrm>
            <a:off x="386862" y="2602875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i="1" dirty="0">
                <a:solidFill>
                  <a:srgbClr val="5DCAA5"/>
                </a:solidFill>
              </a:rPr>
              <a:t>Thank You!</a:t>
            </a:r>
            <a:endParaRPr lang="en-US" sz="8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E0AFD1-95DA-7D79-C17D-69CDDCF681D0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</a:rPr>
              <a:t>Built for DTE Energy  ·  Hack Michigan · 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8550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1210</Words>
  <Application>Microsoft Office PowerPoint</Application>
  <PresentationFormat>On-screen Show (16:9)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inherit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GridWatch AI – Utility Pole Risk Profiling</dc:title>
  <dc:subject>PptxGenJS Presentation</dc:subject>
  <dc:creator>PptxGenJS</dc:creator>
  <cp:lastModifiedBy>Sangtani, Vanshika</cp:lastModifiedBy>
  <cp:revision>7</cp:revision>
  <dcterms:created xsi:type="dcterms:W3CDTF">2026-05-17T14:59:46Z</dcterms:created>
  <dcterms:modified xsi:type="dcterms:W3CDTF">2026-05-17T15:43:45Z</dcterms:modified>
</cp:coreProperties>
</file>